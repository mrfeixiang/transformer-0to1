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29BFE"/>
                </a:solidFill>
                <a:latin typeface="Arial"/>
              </a:defRPr>
            </a:pPr>
            <a:r>
              <a:t>Bioinformatics × Deep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A29BFE"/>
                </a:solidFill>
                <a:latin typeface="Arial"/>
              </a:defRPr>
            </a:pPr>
            <a:r>
              <a:t>Transformer 완전 정복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DD"/>
                </a:solidFill>
                <a:latin typeface="Arial"/>
              </a:defRPr>
            </a:pPr>
            <a:r>
              <a:t>"Attention Is All You Need"에서 AlphaFold, ESM까지</a:t>
            </a:r>
            <a:br/>
            <a:r>
              <a:t>생물정보학 관점의 Transformer 이해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4754880"/>
            <a:ext cx="1234440" cy="365760"/>
          </a:xfrm>
          <a:prstGeom prst="roundRect">
            <a:avLst/>
          </a:prstGeom>
          <a:solidFill>
            <a:srgbClr val="241E4D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C5CE7"/>
                </a:solidFill>
                <a:latin typeface="Arial"/>
              </a:defRPr>
            </a:pPr>
            <a:r>
              <a:t>Self-Attention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4754880"/>
            <a:ext cx="1234440" cy="365760"/>
          </a:xfrm>
          <a:prstGeom prst="roundRect">
            <a:avLst/>
          </a:prstGeom>
          <a:solidFill>
            <a:srgbClr val="004443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EC9"/>
                </a:solidFill>
                <a:latin typeface="Arial"/>
              </a:defRPr>
            </a:pPr>
            <a:r>
              <a:t>Protein 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4754880"/>
            <a:ext cx="1234440" cy="365760"/>
          </a:xfrm>
          <a:prstGeom prst="roundRect">
            <a:avLst/>
          </a:prstGeom>
          <a:solidFill>
            <a:srgbClr val="542838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AlphaFold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40880" y="4754880"/>
            <a:ext cx="1234440" cy="365760"/>
          </a:xfrm>
          <a:prstGeom prst="roundRect">
            <a:avLst/>
          </a:prstGeom>
          <a:solidFill>
            <a:srgbClr val="241E4D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C5CE7"/>
                </a:solidFill>
                <a:latin typeface="Arial"/>
              </a:defRPr>
            </a:pPr>
            <a:r>
              <a:t>Genomics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4754880"/>
            <a:ext cx="1234440" cy="365760"/>
          </a:xfrm>
          <a:prstGeom prst="roundRect">
            <a:avLst/>
          </a:prstGeom>
          <a:solidFill>
            <a:srgbClr val="004443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EC9"/>
                </a:solidFill>
                <a:latin typeface="Arial"/>
              </a:defRPr>
            </a:pPr>
            <a:r>
              <a:t>ESM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왜 Transformer인가?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생물정보학에서 Transformer가 혁명을 일으킨 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36576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🧬 서열은 언어다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DNA, RNA, 단백질 서열은 문자열(sequence)이다.</a:t>
            </a:r>
            <a:br/>
            <a:r>
              <a:t>자연어처리(NLP) 기술이 곧바로 적용 가능하다.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6576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⚡ 장거리 의존성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단백질의 접촉 잔기는 서열상 멀리 떨어져</a:t>
            </a:r>
            <a:br/>
            <a:r>
              <a:t>있지만, 3D 공간에서는 인접하다.</a:t>
            </a:r>
            <a:br/>
            <a:r>
              <a:t>Transformer는 이를 포착한다.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36576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2860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🚀 병렬 처리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175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RNN과 달리 모든 위치를 동시에 처리할 수</a:t>
            </a:r>
            <a:br/>
            <a:r>
              <a:t>있어, 대규모 유전체·단백질 데이터에 적합하다.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Transformer의 역사와 생물정보학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5544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463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"Attention Is All You Need" — Google Brain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402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48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BERT / GPT — 사전 학습 패러다임 확립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8346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346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TAPE — 단백질 서열에 Transformer 벤치마크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6118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5204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3520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AlphaFold 2 — 단백질 구조 예측 혁명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2976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ESM-1b (Meta AI) — 6억 개 단백질 서열 학습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9834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8920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4892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ESMFold, Evo, DNABERT-2 등장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566928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577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29BFE"/>
                </a:solidFill>
                <a:latin typeface="Arial"/>
              </a:defRPr>
            </a:pPr>
            <a:r>
              <a:t>2024–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5577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AlphaFold 3, ESM3 — 멀티모달 생물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1645920"/>
            <a:ext cx="4572000" cy="201168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💡 핵심 인사이트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37744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NLP에서 탄생한 Transformer가 불과 3년 만에</a:t>
            </a:r>
            <a:br/>
            <a:r>
              <a:t>구조생물학의 50년 난제</a:t>
            </a:r>
            <a:br/>
            <a:r>
              <a:t>(단백질 접힘 문제)를 해결했다.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4114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A29BFE"/>
                </a:solidFill>
                <a:latin typeface="Arial"/>
              </a:defRPr>
            </a:pPr>
            <a:r>
              <a:t>214M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AlphaFold DB에 등록된 예측 구조 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3A308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29BFE"/>
                </a:solidFill>
                <a:latin typeface="Arial"/>
              </a:defRPr>
            </a:pPr>
            <a:r>
              <a:t>Transformer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Arial"/>
              </a:defRPr>
            </a:pPr>
            <a:r>
              <a:t>핵심 구성 요소를 하나씩 이해하기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Transformer 전체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463040"/>
            <a:ext cx="2560320" cy="502920"/>
          </a:xfrm>
          <a:prstGeom prst="roundRect">
            <a:avLst/>
          </a:prstGeom>
          <a:solidFill>
            <a:srgbClr val="1B1739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C5CE7"/>
                </a:solidFill>
                <a:latin typeface="Arial"/>
              </a:defRPr>
            </a:pPr>
            <a:r>
              <a:t>Input Embedding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2560320" cy="502920"/>
          </a:xfrm>
          <a:prstGeom prst="roundRect">
            <a:avLst/>
          </a:prstGeom>
          <a:solidFill>
            <a:srgbClr val="1B1739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C5CE7"/>
                </a:solidFill>
                <a:latin typeface="Arial"/>
              </a:defRPr>
            </a:pPr>
            <a:r>
              <a:t>Positional Encoding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2560320"/>
            <a:ext cx="2560320" cy="502920"/>
          </a:xfrm>
          <a:prstGeom prst="roundRect">
            <a:avLst/>
          </a:prstGeom>
          <a:solidFill>
            <a:srgbClr val="3F321B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CB6E"/>
                </a:solidFill>
                <a:latin typeface="Arial"/>
              </a:defRPr>
            </a:pPr>
            <a:r>
              <a:t>Multi-Head Self-Attention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3474720"/>
            <a:ext cx="2560320" cy="50292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CEC9"/>
                </a:solidFill>
                <a:latin typeface="Arial"/>
              </a:defRPr>
            </a:pPr>
            <a:r>
              <a:t>Feed Forward Network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4206240"/>
            <a:ext cx="2560320" cy="502920"/>
          </a:xfrm>
          <a:prstGeom prst="roundRect">
            <a:avLst/>
          </a:prstGeom>
          <a:solidFill>
            <a:srgbClr val="22222A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8888AA"/>
                </a:solidFill>
                <a:latin typeface="Arial"/>
              </a:defRPr>
            </a:pPr>
            <a:r>
              <a:t>Add &amp; LayerNorm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029200"/>
            <a:ext cx="2560320" cy="502920"/>
          </a:xfrm>
          <a:prstGeom prst="roundRect">
            <a:avLst/>
          </a:prstGeom>
          <a:solidFill>
            <a:srgbClr val="3F321B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CB6E"/>
                </a:solidFill>
                <a:latin typeface="Arial"/>
              </a:defRPr>
            </a:pPr>
            <a:r>
              <a:t>Masked Self-Attention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5029200"/>
            <a:ext cx="2560320" cy="502920"/>
          </a:xfrm>
          <a:prstGeom prst="roundRect">
            <a:avLst/>
          </a:prstGeom>
          <a:solidFill>
            <a:srgbClr val="3F321B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CB6E"/>
                </a:solidFill>
                <a:latin typeface="Arial"/>
              </a:defRPr>
            </a:pPr>
            <a:r>
              <a:t>Cross-Attention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2560320" cy="50292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FFN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5943600"/>
            <a:ext cx="2560320" cy="502920"/>
          </a:xfrm>
          <a:prstGeom prst="roundRect">
            <a:avLst/>
          </a:prstGeom>
          <a:solidFill>
            <a:srgbClr val="1B1739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C5CE7"/>
                </a:solidFill>
                <a:latin typeface="Arial"/>
              </a:defRPr>
            </a:pPr>
            <a:r>
              <a:t>Linear + Softmax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EC9"/>
                </a:solidFill>
                <a:latin typeface="Arial"/>
              </a:defRPr>
            </a:pPr>
            <a:r>
              <a:t>← Encoder × 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5029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D79A8"/>
                </a:solidFill>
                <a:latin typeface="Arial"/>
              </a:defRPr>
            </a:pPr>
            <a:r>
              <a:t>← Decoder × 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토큰화와 임베딩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서열 → 숫자 벡터: Transformer의 첫 번째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EC9"/>
                </a:solidFill>
                <a:latin typeface="Arial"/>
              </a:defRPr>
            </a:pPr>
            <a:r>
              <a:t>🧬 생물학적 서열의 토큰화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5029200" cy="1097280"/>
          </a:xfrm>
          <a:prstGeom prst="roundRect">
            <a:avLst/>
          </a:prstGeom>
          <a:solidFill>
            <a:srgbClr val="0A1A1A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DNA: 각 뉴클레오타이드 (A, T, G, C) 또는 k-mer 단위</a:t>
            </a:r>
            <a:br/>
            <a:r>
              <a:t>단백질: 각 아미노산 (20종 + 특수 토큰)</a:t>
            </a:r>
            <a:br/>
            <a:r>
              <a:t>RNA: 각 뉴클레오타이드 (A, U, G, 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DNA 서열 예시 (k-mer = 3):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14800"/>
            <a:ext cx="822960" cy="411480"/>
          </a:xfrm>
          <a:prstGeom prst="roundRect">
            <a:avLst/>
          </a:prstGeom>
          <a:solidFill>
            <a:srgbClr val="052020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EC9"/>
                </a:solidFill>
                <a:latin typeface="Arial"/>
              </a:defRPr>
            </a:pPr>
            <a:r>
              <a:t>ATG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37360" y="4114800"/>
            <a:ext cx="822960" cy="411480"/>
          </a:xfrm>
          <a:prstGeom prst="roundRect">
            <a:avLst/>
          </a:prstGeom>
          <a:solidFill>
            <a:srgbClr val="052020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EC9"/>
                </a:solidFill>
                <a:latin typeface="Arial"/>
              </a:defRPr>
            </a:pPr>
            <a:r>
              <a:t>TGC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4114800"/>
            <a:ext cx="822960" cy="411480"/>
          </a:xfrm>
          <a:prstGeom prst="roundRect">
            <a:avLst/>
          </a:prstGeom>
          <a:solidFill>
            <a:srgbClr val="052020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EC9"/>
                </a:solidFill>
                <a:latin typeface="Arial"/>
              </a:defRPr>
            </a:pPr>
            <a:r>
              <a:t>GCA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40" y="4114800"/>
            <a:ext cx="822960" cy="411480"/>
          </a:xfrm>
          <a:prstGeom prst="roundRect">
            <a:avLst/>
          </a:prstGeom>
          <a:solidFill>
            <a:srgbClr val="052020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EC9"/>
                </a:solidFill>
                <a:latin typeface="Arial"/>
              </a:defRPr>
            </a:pPr>
            <a:r>
              <a:t>CAT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4114800"/>
            <a:ext cx="822960" cy="411480"/>
          </a:xfrm>
          <a:prstGeom prst="roundRect">
            <a:avLst/>
          </a:prstGeom>
          <a:solidFill>
            <a:srgbClr val="052020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CEC9"/>
                </a:solidFill>
                <a:latin typeface="Arial"/>
              </a:defRPr>
            </a:pPr>
            <a:r>
              <a:t>ATG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Arial"/>
              </a:defRPr>
            </a:pPr>
            <a:r>
              <a:t>단백질 서열 예시: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11680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51759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91839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31920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1999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12079" y="5120640"/>
            <a:ext cx="502920" cy="411480"/>
          </a:xfrm>
          <a:prstGeom prst="roundRect">
            <a:avLst/>
          </a:prstGeom>
          <a:solidFill>
            <a:srgbClr val="200E15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📐 임베딩 (Embedding)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3774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각 토큰을 고차원 벡터(예: 768차원)로 변환한다.</a:t>
            </a:r>
            <a:br/>
            <a:r>
              <a:t>학습을 통해 의미적으로 유사한 토큰이</a:t>
            </a:r>
            <a:br/>
            <a:r>
              <a:t>가까운 벡터를 갖게 된다.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840480"/>
            <a:ext cx="5029200" cy="256032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40233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ourier New"/>
              </a:defRPr>
            </a:pPr>
            <a:r>
              <a:t># 단백질 임베딩 예시 (PyTorch)</a:t>
            </a:r>
            <a:br/>
            <a:r>
              <a:t>import torch.nn as nn</a:t>
            </a:r>
            <a:br/>
            <a:br/>
            <a:r>
              <a:t>vocab_size = 25   # 20 AA + 특수토큰</a:t>
            </a:r>
            <a:br/>
            <a:r>
              <a:t>d_model    = 768</a:t>
            </a:r>
            <a:br/>
            <a:br/>
            <a:r>
              <a:t>embedding = nn.Embedding(vocab_size, d_model)</a:t>
            </a:r>
            <a:br/>
            <a:r>
              <a:t>seq = torch.tensor([12,0,11,22,10,17,11,11])</a:t>
            </a:r>
            <a:br/>
            <a:r>
              <a:t>emb = embedding(seq)  # (8, 768)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위치 인코딩 (Positional Encoding)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EC9"/>
                </a:solidFill>
                <a:latin typeface="Arial"/>
              </a:defRPr>
            </a:pPr>
            <a:r>
              <a:t>왜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RNN은 순차 처리 → 위치 정보가 내재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Transformer는 모든 토큰을 동시에 봄 → 위치 정보가 없다!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서열에서 위치는 중요: 같은 아미노산이라도</a:t>
            </a:r>
            <a:br/>
            <a:r>
              <a:t>  위치에 따라 기능이 다르다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수학적 정의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97680"/>
            <a:ext cx="5029200" cy="91440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89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Courier New"/>
              </a:defRPr>
            </a:pPr>
            <a:r>
              <a:t>PE(pos, 2i)   = sin(pos / 10000^(2i/d))</a:t>
            </a:r>
            <a:br/>
            <a:r>
              <a:t>PE(pos, 2i+1) = cos(pos / 10000^(2i/d))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D79A8"/>
                </a:solidFill>
                <a:latin typeface="Arial"/>
              </a:defRPr>
            </a:pPr>
            <a:r>
              <a:t>🧬 생물정보학에서의 변형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011680"/>
            <a:ext cx="5029200" cy="128016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학습 가능한 위치 인코딩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14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ESM, ProtTrans 등은 학습 가능한 파라미터를</a:t>
            </a:r>
            <a:br/>
            <a:r>
              <a:t>사용하여 단백질 서열의 특성에 맞게 최적화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474720"/>
            <a:ext cx="5029200" cy="128016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상대적 위치 인코딩 (RPE)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977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AlphaFold에서 사용. 잔기 간 상대적 거리를</a:t>
            </a:r>
            <a:br/>
            <a:r>
              <a:t>인코딩 → 서열 길이에 더 잘 일반화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937760"/>
            <a:ext cx="5029200" cy="128016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Rotary Position (RoPE)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440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최신 모델(ESM3 등)에서 채택. 회전 변환으로</a:t>
            </a:r>
            <a:br/>
            <a:r>
              <a:t>상대 위치를 내적에 자연스럽게 반영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Self-Attention이란?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"이 서열에서 어떤 위치가 어떤 위치에 중요한가?"를 계산하는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▸ 각 토큰이 다른 모든 토큰과의 관련성(attention score)을 계산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▸ 관련성이 높은 토큰의 정보를 더 많이 반영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DD"/>
                </a:solidFill>
                <a:latin typeface="Arial"/>
              </a:defRPr>
            </a:pPr>
            <a:r>
              <a:t>▸ 서열의 길이와 무관하게 모든 쌍을 한 번에 비교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029200" cy="914400"/>
          </a:xfrm>
          <a:prstGeom prst="roundRect">
            <a:avLst/>
          </a:prstGeom>
          <a:solidFill>
            <a:srgbClr val="0A1A1A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생물학적 의미: 단백질 서열에서 Self-Attention은</a:t>
            </a:r>
            <a:br/>
            <a:r>
              <a:t>3D 공간에서 가까운 잔기 쌍(contact map)을</a:t>
            </a:r>
            <a:br/>
            <a:r>
              <a:t>자동으로 학습한다.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28800"/>
            <a:ext cx="5029200" cy="41148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🔍 Query-Key-Value 비유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743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DCB6E"/>
                </a:solidFill>
                <a:latin typeface="Arial"/>
              </a:defRPr>
            </a:pPr>
            <a:r>
              <a:t>▸ Query (Q)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063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이 잔기는 누구와 상호작용하고 싶나? (검색어)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5661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▸ Key (K)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886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나는 이런 특성을 가진 잔기야 (책 제목)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EC9"/>
                </a:solidFill>
                <a:latin typeface="Arial"/>
              </a:defRPr>
            </a:pPr>
            <a:r>
              <a:t>▸ Value (V)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4709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나의 실제 정보는 이거야 (책 내용)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303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Q와 K의 유사도가 높을수록, 해당 V의 비중이 커진다.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Scaled Dot-Product Attention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144000" cy="82296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14630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Courier New"/>
              </a:defRPr>
            </a:pPr>
            <a:r>
              <a:t>Attention(Q, K, V) = softmax(QK^T / √d_k) V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265176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CB6E"/>
                </a:solidFill>
                <a:latin typeface="Arial"/>
              </a:defRPr>
            </a:pPr>
            <a:r>
              <a:t>QK^T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Query와 Key의 내적</a:t>
            </a:r>
            <a:br/>
            <a:r>
              <a:t>→ 유사도 행렬 (n×n)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2560320"/>
            <a:ext cx="265176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55E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4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5EFC4"/>
                </a:solidFill>
                <a:latin typeface="Arial"/>
              </a:defRPr>
            </a:pPr>
            <a:r>
              <a:t>√d_k 로 나누기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4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차원이 커지면 내적 값도 커짐</a:t>
            </a:r>
            <a:br/>
            <a:r>
              <a:t>→ 스케일링으로 안정화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560320"/>
            <a:ext cx="265176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D79A8"/>
                </a:solidFill>
                <a:latin typeface="Arial"/>
              </a:defRPr>
            </a:pPr>
            <a:r>
              <a:t>Softmax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점수를 확률 분포로 변환</a:t>
            </a:r>
            <a:br/>
            <a:r>
              <a:t>합이 1이 되어 가중 평균 가능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2560320"/>
            <a:ext cx="265176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0" y="2697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× 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320040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확률 분포로 Value를 가중 합산</a:t>
            </a:r>
            <a:br/>
            <a:r>
              <a:t>관련성 높은 위치의 정보 취합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10698480" cy="201168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Courier New"/>
              </a:defRPr>
            </a:pPr>
            <a:r>
              <a:t># 서열 길이 4, d_k = 3</a:t>
            </a:r>
            <a:br/>
            <a:r>
              <a:t>Q = [[1,0,1], [0,1,1], [1,1,0], [0,0,1]]</a:t>
            </a:r>
            <a:br/>
            <a:r>
              <a:t>K = [[1,1,0], [0,1,1], [1,0,1], [1,1,1]]</a:t>
            </a:r>
            <a:br/>
            <a:br/>
            <a:r>
              <a:t>scores = Q @ K.T          # Step 1: QK^T (4×4 유사도 행렬)</a:t>
            </a:r>
            <a:br/>
            <a:r>
              <a:t>scores = scores / 1.73    # Step 2: Scale by √d_k</a:t>
            </a:r>
            <a:br/>
            <a:r>
              <a:t>weights = softmax(scores) # Step 3: Softmax (각 행의 합 = 1)</a:t>
            </a:r>
            <a:br/>
            <a:r>
              <a:t>output = weights @ V      # Step 4: Weighted sum of V → (4, 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Multi-Head 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여러 관점에서 동시에 attention을 수행하는 메커니즘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하나의 attention head는 하나의 관계 유형만 포착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단백질에는 여러 유형의 상호작용이 공존: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    - 수소 결합 패턴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    - 소수성(hydrophobic) 상호작용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    - 정전기적 상호작용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    - 이황화 결합(S-S bond)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각 head가 서로 다른 상호작용을 학습!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120640"/>
            <a:ext cx="5303520" cy="73152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212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Courier New"/>
              </a:defRPr>
            </a:pPr>
            <a:r>
              <a:t>MultiHead(Q,K,V) = Concat(head₁,...,headₕ)Wᴼ</a:t>
            </a:r>
            <a:br/>
            <a:r>
              <a:t>headᵢ = Attention(QWᵢᵠ, KWᵢᴷ, VWᵢⱽ)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82880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1</a:t>
            </a:r>
            <a:br/>
            <a:r>
              <a:t>수소 결합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82880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2</a:t>
            </a:r>
            <a:br/>
            <a:r>
              <a:t>소수성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82880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3</a:t>
            </a:r>
            <a:br/>
            <a:r>
              <a:t>정전기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0" y="182880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4</a:t>
            </a:r>
            <a:br/>
            <a:r>
              <a:t>근접 잔기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84048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5</a:t>
            </a:r>
            <a:br/>
            <a:r>
              <a:t>이차 구조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84048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6</a:t>
            </a:r>
            <a:br/>
            <a:r>
              <a:t>보존 패턴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84048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7</a:t>
            </a:r>
            <a:br/>
            <a:r>
              <a:t>표면 잔기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15600" y="3840480"/>
            <a:ext cx="1188720" cy="16459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29BFE"/>
                </a:solidFill>
                <a:latin typeface="Arial"/>
              </a:defRPr>
            </a:pPr>
            <a:r>
              <a:t>Head 8</a:t>
            </a:r>
            <a:br/>
            <a:r>
              <a:t>활성 부위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754880"/>
            <a:ext cx="5029200" cy="1097280"/>
          </a:xfrm>
          <a:prstGeom prst="roundRect">
            <a:avLst/>
          </a:prstGeom>
          <a:solidFill>
            <a:srgbClr val="0A1A1A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ESM-1b의 발견: 특정 attention head가 단백질의</a:t>
            </a:r>
            <a:br/>
            <a:r>
              <a:t>접촉 맵과 높은 상관관계 → Transformer가 3D</a:t>
            </a:r>
            <a:br/>
            <a:r>
              <a:t>구조를 서열만으로 암묵적으로 학습!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FFN, 잔차 연결, LayerNorm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66160" cy="41148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29BFE"/>
                </a:solidFill>
                <a:latin typeface="Arial"/>
              </a:defRPr>
            </a:pPr>
            <a:r>
              <a:t>🔄 Feed-Forward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각 위치에 독립적으로 적용되는 2층 MLP</a:t>
            </a:r>
            <a:br/>
            <a:br/>
            <a:r>
              <a:t>FFN(x) = max(0, xW₁+b₁)W₂+b₂</a:t>
            </a:r>
            <a:br/>
            <a:r>
              <a:t>보통 d_ff = 4 × d_model (768→3072→768)</a:t>
            </a:r>
            <a:br/>
            <a:br/>
            <a:r>
              <a:t>Attention이 '어디를 볼지' 결정하면,</a:t>
            </a:r>
            <a:br/>
            <a:r>
              <a:t>FFN이 '무엇을 추출할지' 결정한다.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463040"/>
            <a:ext cx="3566160" cy="41148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29BFE"/>
                </a:solidFill>
                <a:latin typeface="Arial"/>
              </a:defRPr>
            </a:pPr>
            <a:r>
              <a:t>➕ 잔차 연결 (Residual)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입력을 출력에 더해준다:</a:t>
            </a:r>
            <a:br/>
            <a:br/>
            <a:r>
              <a:t>output = x + SubLayer(x)</a:t>
            </a:r>
            <a:br/>
            <a:br/>
            <a:r>
              <a:t>왜? 깊은 네트워크에서 기울기 소실 방지.</a:t>
            </a:r>
            <a:br/>
            <a:r>
              <a:t>정보의 '고속도로' 역할.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463040"/>
            <a:ext cx="3566160" cy="41148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29BFE"/>
                </a:solidFill>
                <a:latin typeface="Arial"/>
              </a:defRPr>
            </a:pPr>
            <a:r>
              <a:t>📏 Layer 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19456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각 샘플 내에서 평균 0, 분산 1로 정규화:</a:t>
            </a:r>
            <a:br/>
            <a:br/>
            <a:r>
              <a:t>LN(x) = γ · (x - μ) / σ + β</a:t>
            </a:r>
            <a:br/>
            <a:br/>
            <a:r>
              <a:t>학습을 안정화하고 수렴 속도를 높인다.</a:t>
            </a:r>
            <a:br/>
            <a:r>
              <a:t>Pre-LN vs Post-LN 변형이 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943600"/>
            <a:ext cx="1188720" cy="457200"/>
          </a:xfrm>
          <a:prstGeom prst="roundRect">
            <a:avLst/>
          </a:prstGeom>
          <a:solidFill>
            <a:srgbClr val="1B1739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C5CE7"/>
                </a:solidFill>
                <a:latin typeface="Arial"/>
              </a:defRPr>
            </a:pPr>
            <a:r>
              <a:t>Input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5943600"/>
            <a:ext cx="1188720" cy="457200"/>
          </a:xfrm>
          <a:prstGeom prst="roundRect">
            <a:avLst/>
          </a:prstGeom>
          <a:solidFill>
            <a:srgbClr val="3F321B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CB6E"/>
                </a:solidFill>
                <a:latin typeface="Arial"/>
              </a:defRPr>
            </a:pPr>
            <a:r>
              <a:t>Self-Attn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5943600"/>
            <a:ext cx="1188720" cy="457200"/>
          </a:xfrm>
          <a:prstGeom prst="roundRect">
            <a:avLst/>
          </a:prstGeom>
          <a:solidFill>
            <a:srgbClr val="22222A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88AA"/>
                </a:solidFill>
                <a:latin typeface="Arial"/>
              </a:defRPr>
            </a:pPr>
            <a:r>
              <a:t>Add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00600" y="5943600"/>
            <a:ext cx="1188720" cy="45720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LayerNorm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5943600"/>
            <a:ext cx="1188720" cy="457200"/>
          </a:xfrm>
          <a:prstGeom prst="roundRect">
            <a:avLst/>
          </a:prstGeom>
          <a:solidFill>
            <a:srgbClr val="3F321B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CB6E"/>
                </a:solidFill>
                <a:latin typeface="Arial"/>
              </a:defRPr>
            </a:pPr>
            <a:r>
              <a:t>FFN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5943600"/>
            <a:ext cx="1188720" cy="457200"/>
          </a:xfrm>
          <a:prstGeom prst="roundRect">
            <a:avLst/>
          </a:prstGeom>
          <a:solidFill>
            <a:srgbClr val="22222A"/>
          </a:solidFill>
          <a:ln w="1270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8888AA"/>
                </a:solidFill>
                <a:latin typeface="Arial"/>
              </a:defRPr>
            </a:pPr>
            <a:r>
              <a:t>Add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5943600"/>
            <a:ext cx="1188720" cy="45720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LayerNorm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594360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AA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69880" y="5943600"/>
            <a:ext cx="1188720" cy="457200"/>
          </a:xfrm>
          <a:prstGeom prst="roundRect">
            <a:avLst/>
          </a:prstGeom>
          <a:solidFill>
            <a:srgbClr val="1B1739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C5CE7"/>
                </a:solidFill>
                <a:latin typeface="Arial"/>
              </a:defRPr>
            </a:pPr>
            <a:r>
              <a:t>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3A308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29BFE"/>
                </a:solidFill>
                <a:latin typeface="Arial"/>
              </a:defRPr>
            </a:pPr>
            <a:r>
              <a:t>생물정보학 응용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Arial"/>
              </a:defRPr>
            </a:pPr>
            <a:r>
              <a:t>Transformer가 생물학의 근본 문제를 어떻게 해결하는가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단백질 언어 모델 (Protein LM)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자연어의 BERT처럼, 단백질 서열을 '읽는' 모델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486400" cy="914400"/>
          </a:xfrm>
          <a:prstGeom prst="roundRect">
            <a:avLst/>
          </a:prstGeom>
          <a:solidFill>
            <a:srgbClr val="0A1A1A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Masked Language Modeling:</a:t>
            </a:r>
            <a:br/>
            <a:r>
              <a:t>서열의 일부 아미노산을 [MASK]로 가리고,</a:t>
            </a:r>
            <a:br/>
            <a:r>
              <a:t>나머지 문맥으로부터 원래 아미노산을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입력: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8346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834640"/>
            <a:ext cx="502920" cy="365760"/>
          </a:xfrm>
          <a:prstGeom prst="roundRect">
            <a:avLst/>
          </a:prstGeom>
          <a:solidFill>
            <a:srgbClr val="28263F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29BFE"/>
                </a:solidFill>
                <a:latin typeface="Arial"/>
              </a:defRPr>
            </a:pPr>
            <a:r>
              <a:t>[M]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8346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79" y="28346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2834640"/>
            <a:ext cx="502920" cy="365760"/>
          </a:xfrm>
          <a:prstGeom prst="roundRect">
            <a:avLst/>
          </a:prstGeom>
          <a:solidFill>
            <a:srgbClr val="28263F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29BFE"/>
                </a:solidFill>
                <a:latin typeface="Arial"/>
              </a:defRPr>
            </a:pPr>
            <a:r>
              <a:t>[M]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28346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19" y="28346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8346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AA"/>
                </a:solidFill>
                <a:latin typeface="Arial"/>
              </a:defRPr>
            </a:pPr>
            <a:r>
              <a:t>예측: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32918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3120" y="3291840"/>
            <a:ext cx="502920" cy="365760"/>
          </a:xfrm>
          <a:prstGeom prst="roundRect">
            <a:avLst/>
          </a:prstGeom>
          <a:solidFill>
            <a:srgbClr val="153B31"/>
          </a:solidFill>
          <a:ln w="12700">
            <a:solidFill>
              <a:srgbClr val="55E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5EFC4"/>
                </a:solidFill>
                <a:latin typeface="Arial"/>
              </a:defRPr>
            </a:pPr>
            <a:r>
              <a:t>A✓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2918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79" y="32918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3291840"/>
            <a:ext cx="502920" cy="365760"/>
          </a:xfrm>
          <a:prstGeom prst="roundRect">
            <a:avLst/>
          </a:prstGeom>
          <a:solidFill>
            <a:srgbClr val="153B31"/>
          </a:solidFill>
          <a:ln w="12700">
            <a:solidFill>
              <a:srgbClr val="55E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55EFC4"/>
                </a:solidFill>
                <a:latin typeface="Arial"/>
              </a:defRPr>
            </a:pPr>
            <a:r>
              <a:t>K✓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2918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19" y="32918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3291840"/>
            <a:ext cx="502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대표 모델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2194560"/>
            <a:ext cx="1554480" cy="365760"/>
          </a:xfrm>
          <a:prstGeom prst="roundRect">
            <a:avLst/>
          </a:prstGeom>
          <a:solidFill>
            <a:srgbClr val="201A4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29BFE"/>
                </a:solidFill>
                <a:latin typeface="Arial"/>
              </a:defRPr>
            </a:pPr>
            <a:r>
              <a:t>모델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2194560"/>
            <a:ext cx="1554480" cy="365760"/>
          </a:xfrm>
          <a:prstGeom prst="roundRect">
            <a:avLst/>
          </a:prstGeom>
          <a:solidFill>
            <a:srgbClr val="201A4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29BFE"/>
                </a:solidFill>
                <a:latin typeface="Arial"/>
              </a:defRPr>
            </a:pPr>
            <a:r>
              <a:t>파라미터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75520" y="2194560"/>
            <a:ext cx="1554480" cy="365760"/>
          </a:xfrm>
          <a:prstGeom prst="roundRect">
            <a:avLst/>
          </a:prstGeom>
          <a:solidFill>
            <a:srgbClr val="201A4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A29BFE"/>
                </a:solidFill>
                <a:latin typeface="Arial"/>
              </a:defRPr>
            </a:pPr>
            <a:r>
              <a:t>학습 데이터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ESM-1b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650M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6060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UniRef50 (27M 서열)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ESM-2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15B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301752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UniRef50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ProtTrans-T5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3B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UniRef50 + BFD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3840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ESM3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3840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98B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3840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서열 + 구조 + 기능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할 수 있는 것들: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4480560"/>
            <a:ext cx="1645920" cy="36576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EC9"/>
                </a:solidFill>
                <a:latin typeface="Arial"/>
              </a:defRPr>
            </a:pPr>
            <a:r>
              <a:t>구조 예측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560320" y="4480560"/>
            <a:ext cx="1645920" cy="365760"/>
          </a:xfrm>
          <a:prstGeom prst="roundRect">
            <a:avLst/>
          </a:prstGeom>
          <a:solidFill>
            <a:srgbClr val="28263F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29BFE"/>
                </a:solidFill>
                <a:latin typeface="Arial"/>
              </a:defRPr>
            </a:pPr>
            <a:r>
              <a:t>기능 예측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4480560"/>
            <a:ext cx="1645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변이 효과 예측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937760"/>
            <a:ext cx="1645920" cy="36576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0CEC9"/>
                </a:solidFill>
                <a:latin typeface="Arial"/>
              </a:defRPr>
            </a:pPr>
            <a:r>
              <a:t>단백질 설계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4937760"/>
            <a:ext cx="1645920" cy="365760"/>
          </a:xfrm>
          <a:prstGeom prst="roundRect">
            <a:avLst/>
          </a:prstGeom>
          <a:solidFill>
            <a:srgbClr val="28263F"/>
          </a:solidFill>
          <a:ln w="12700">
            <a:solidFill>
              <a:srgbClr val="A29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29BFE"/>
                </a:solidFill>
                <a:latin typeface="Arial"/>
              </a:defRPr>
            </a:pPr>
            <a:r>
              <a:t>접촉 맵 추출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4937760"/>
            <a:ext cx="1645920" cy="36576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D79A8"/>
                </a:solidFill>
                <a:latin typeface="Arial"/>
              </a:defRPr>
            </a:pPr>
            <a:r>
              <a:t>진화 분석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AlphaFold — 구조 예측 혁명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단백질 접힘 문제의 50년 역사를 끝낸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EC9"/>
                </a:solidFill>
                <a:latin typeface="Arial"/>
              </a:defRPr>
            </a:pPr>
            <a:r>
              <a:t>Evoformer: AlphaFold의 핵심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5029200" cy="384048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468880"/>
            <a:ext cx="1554480" cy="822960"/>
          </a:xfrm>
          <a:prstGeom prst="roundRect">
            <a:avLst/>
          </a:prstGeom>
          <a:solidFill>
            <a:srgbClr val="002928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MSA Representation</a:t>
            </a:r>
            <a:br/>
            <a:r>
              <a:t>(다중 서열 정렬)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468880"/>
            <a:ext cx="1554480" cy="822960"/>
          </a:xfrm>
          <a:prstGeom prst="roundRect">
            <a:avLst/>
          </a:prstGeom>
          <a:solidFill>
            <a:srgbClr val="321821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79A8"/>
                </a:solidFill>
                <a:latin typeface="Arial"/>
              </a:defRPr>
            </a:pPr>
            <a:r>
              <a:t>Pair Representation</a:t>
            </a:r>
            <a:br/>
            <a:r>
              <a:t>(잔기 쌍 관계)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657600"/>
            <a:ext cx="1554480" cy="822960"/>
          </a:xfrm>
          <a:prstGeom prst="roundRect">
            <a:avLst/>
          </a:prstGeom>
          <a:solidFill>
            <a:srgbClr val="322816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CB6E"/>
                </a:solidFill>
                <a:latin typeface="Arial"/>
              </a:defRPr>
            </a:pPr>
            <a:r>
              <a:t>Row-wise Self-Attn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3657600"/>
            <a:ext cx="1554480" cy="822960"/>
          </a:xfrm>
          <a:prstGeom prst="roundRect">
            <a:avLst/>
          </a:prstGeom>
          <a:solidFill>
            <a:srgbClr val="322816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CB6E"/>
                </a:solidFill>
                <a:latin typeface="Arial"/>
              </a:defRPr>
            </a:pPr>
            <a:r>
              <a:t>Column-wise Self-Attn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3657600"/>
            <a:ext cx="1554480" cy="822960"/>
          </a:xfrm>
          <a:prstGeom prst="roundRect">
            <a:avLst/>
          </a:prstGeom>
          <a:solidFill>
            <a:srgbClr val="322816"/>
          </a:solidFill>
          <a:ln w="12700">
            <a:solidFill>
              <a:srgbClr val="FDCB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CB6E"/>
                </a:solidFill>
                <a:latin typeface="Arial"/>
              </a:defRPr>
            </a:pPr>
            <a:r>
              <a:t>Triangle Attention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846320"/>
            <a:ext cx="1554480" cy="822960"/>
          </a:xfrm>
          <a:prstGeom prst="roundRect">
            <a:avLst/>
          </a:prstGeom>
          <a:solidFill>
            <a:srgbClr val="112F27"/>
          </a:solidFill>
          <a:ln w="12700">
            <a:solidFill>
              <a:srgbClr val="55E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55EFC4"/>
                </a:solidFill>
                <a:latin typeface="Arial"/>
              </a:defRPr>
            </a:pPr>
            <a:r>
              <a:t>Structure Module → 3D 좌표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517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Arial"/>
              </a:defRPr>
            </a:pPr>
            <a:r>
              <a:t>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91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  <a:latin typeface="Arial"/>
              </a:defRPr>
            </a:pPr>
            <a:r>
              <a:t>↕ 정보 교환 (48블록) 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29BFE"/>
                </a:solidFill>
                <a:latin typeface="Arial"/>
              </a:defRPr>
            </a:pPr>
            <a:r>
              <a:t>핵심 혁신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286000"/>
            <a:ext cx="5029200" cy="11887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1. Triangle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잔기 A-B, B-C의 관계로부터 A-C 추론.</a:t>
            </a:r>
            <a:br/>
            <a:r>
              <a:t>3D 공간의 삼각 부등식을 네트워크에 내재화.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657600"/>
            <a:ext cx="5029200" cy="11887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2. MSA ↔ Pair 정보 교환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진화적 정보(MSA)와 구조적 정보(Pair)가</a:t>
            </a:r>
            <a:br/>
            <a:r>
              <a:t>서로를 반복적으로 정제.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5029200"/>
            <a:ext cx="5029200" cy="118872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3. End-to-End 학습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486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서열 → 3D 좌표를 하나의 네트워크에서</a:t>
            </a:r>
            <a:br/>
            <a:r>
              <a:t>직접 예측. 별도의 에너지 최소화 불필요.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유전체학 (Genomics) 응용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🧬 DNABERT / DNABERT-2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DNA 서열을 k-mer로 토큰화하여</a:t>
            </a:r>
            <a:br/>
            <a:r>
              <a:t>BERT 스타일로 학습.</a:t>
            </a:r>
            <a:br/>
            <a:r>
              <a:t>프로모터 인식, 스플라이스 사이트 예측.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108960"/>
            <a:ext cx="1188720" cy="32004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프로모터 예측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3108960"/>
            <a:ext cx="1188720" cy="32004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79A8"/>
                </a:solidFill>
                <a:latin typeface="Arial"/>
              </a:defRPr>
            </a:pPr>
            <a:r>
              <a:t>변이 효과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🌍 Nucleotide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InstaDeep/Google의 2.5B 파라미터</a:t>
            </a:r>
            <a:br/>
            <a:r>
              <a:t>DNA 모델. 18개 다운스트림 태스크에서</a:t>
            </a:r>
            <a:br/>
            <a:r>
              <a:t>SOTA 달성.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108960"/>
            <a:ext cx="1188720" cy="32004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인핸서 예측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3108960"/>
            <a:ext cx="1188720" cy="32004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79A8"/>
                </a:solidFill>
                <a:latin typeface="Arial"/>
              </a:defRPr>
            </a:pPr>
            <a:r>
              <a:t>종 분류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🔬 Enformer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DeepMind. DNA 서열 → 유전자 발현량</a:t>
            </a:r>
            <a:br/>
            <a:r>
              <a:t>예측. 200kb 범위의 장거리 조절 요소</a:t>
            </a:r>
            <a:br/>
            <a:r>
              <a:t>포착.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5669280"/>
            <a:ext cx="1188720" cy="32004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유전자 발현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5669280"/>
            <a:ext cx="1188720" cy="32004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79A8"/>
                </a:solidFill>
                <a:latin typeface="Arial"/>
              </a:defRPr>
            </a:pPr>
            <a:r>
              <a:t>조절 요소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🧪 Evo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572000"/>
            <a:ext cx="4754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Arc Institute. 7B 파라미터.</a:t>
            </a:r>
            <a:br/>
            <a:r>
              <a:t>DNA, RNA, 단백질을 단일 모델로</a:t>
            </a:r>
            <a:br/>
            <a:r>
              <a:t>학습. 유전자 수준의 기능 예측.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5669280"/>
            <a:ext cx="1188720" cy="320040"/>
          </a:xfrm>
          <a:prstGeom prst="roundRect">
            <a:avLst/>
          </a:prstGeom>
          <a:solidFill>
            <a:srgbClr val="003332"/>
          </a:solidFill>
          <a:ln w="12700">
            <a:solidFill>
              <a:srgbClr val="00CE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CEC9"/>
                </a:solidFill>
                <a:latin typeface="Arial"/>
              </a:defRPr>
            </a:pPr>
            <a:r>
              <a:t>멀티모달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5669280"/>
            <a:ext cx="1188720" cy="320040"/>
          </a:xfrm>
          <a:prstGeom prst="roundRect">
            <a:avLst/>
          </a:prstGeom>
          <a:solidFill>
            <a:srgbClr val="3F1E2A"/>
          </a:solidFill>
          <a:ln w="12700">
            <a:solidFill>
              <a:srgbClr val="FD79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D79A8"/>
                </a:solidFill>
                <a:latin typeface="Arial"/>
              </a:defRPr>
            </a:pPr>
            <a:r>
              <a:t>생성 모델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A29BFE"/>
                </a:solidFill>
                <a:latin typeface="Arial"/>
              </a:defRPr>
            </a:pPr>
            <a:r>
              <a:t>RNN vs Transformer — 생물정보학 관점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286000" cy="548640"/>
          </a:xfrm>
          <a:prstGeom prst="roundRect">
            <a:avLst/>
          </a:prstGeom>
          <a:solidFill>
            <a:srgbClr val="201A4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Arial"/>
              </a:defRPr>
            </a:pPr>
            <a:r>
              <a:t>특성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371600"/>
            <a:ext cx="4114800" cy="548640"/>
          </a:xfrm>
          <a:prstGeom prst="roundRect">
            <a:avLst/>
          </a:prstGeom>
          <a:solidFill>
            <a:srgbClr val="201A4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Arial"/>
              </a:defRPr>
            </a:pPr>
            <a:r>
              <a:t>RNN / LSTM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371600"/>
            <a:ext cx="4114800" cy="548640"/>
          </a:xfrm>
          <a:prstGeom prst="roundRect">
            <a:avLst/>
          </a:prstGeom>
          <a:solidFill>
            <a:srgbClr val="201A4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6092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29BFE"/>
                </a:solidFill>
                <a:latin typeface="Arial"/>
              </a:defRPr>
            </a:pPr>
            <a:r>
              <a:t>Transformer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22860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장거리 의존성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01168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0" y="2057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7675"/>
                </a:solidFill>
                <a:latin typeface="Arial"/>
              </a:defRPr>
            </a:pPr>
            <a:r>
              <a:t>✗ 먼 거리에서 정보 손실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60" y="201168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205740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EFC4"/>
                </a:solidFill>
                <a:latin typeface="Arial"/>
              </a:defRPr>
            </a:pPr>
            <a:r>
              <a:t>✓ 모든 거리를 동등하게 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22860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6974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병렬 처리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265176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7675"/>
                </a:solidFill>
                <a:latin typeface="Arial"/>
              </a:defRPr>
            </a:pPr>
            <a:r>
              <a:t>✗ 순차 처리 → GPU 활용 제한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65176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2697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EFC4"/>
                </a:solidFill>
                <a:latin typeface="Arial"/>
              </a:defRPr>
            </a:pPr>
            <a:r>
              <a:t>✓ 모든 위치 동시 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39"/>
            <a:ext cx="22860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3755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학습 속도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3291839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33375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7675"/>
                </a:solidFill>
                <a:latin typeface="Arial"/>
              </a:defRPr>
            </a:pPr>
            <a:r>
              <a:t>✗ 긴 서열에서 매우 느림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291839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333755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EFC4"/>
                </a:solidFill>
                <a:latin typeface="Arial"/>
              </a:defRPr>
            </a:pPr>
            <a:r>
              <a:t>✓ 대규모 데이터를 빠르게 학습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931920"/>
            <a:ext cx="22860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39776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해석 가능성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393192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0" y="3977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7675"/>
                </a:solidFill>
                <a:latin typeface="Arial"/>
              </a:defRPr>
            </a:pPr>
            <a:r>
              <a:t>✗ 은닉 상태 해석 어려움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23760" y="393192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397764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EFC4"/>
                </a:solidFill>
                <a:latin typeface="Arial"/>
              </a:defRPr>
            </a:pPr>
            <a:r>
              <a:t>✓ Attention weight로 시각화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572000"/>
            <a:ext cx="22860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617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서열 길이 한계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63240" y="457200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0" y="4617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이론적 무한 (~1000)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4572000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4617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7675"/>
                </a:solidFill>
                <a:latin typeface="Arial"/>
              </a:defRPr>
            </a:pPr>
            <a:r>
              <a:t>✗ O(n²) 메모리 → 한계*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212079"/>
            <a:ext cx="22860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25779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사전 학습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63240" y="5212079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0" y="52577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7675"/>
                </a:solidFill>
                <a:latin typeface="Arial"/>
              </a:defRPr>
            </a:pPr>
            <a:r>
              <a:t>✗ 구조적으로 어려움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23760" y="5212079"/>
            <a:ext cx="4114800" cy="548640"/>
          </a:xfrm>
          <a:prstGeom prst="roundRect">
            <a:avLst/>
          </a:prstGeom>
          <a:solidFill>
            <a:srgbClr val="121222"/>
          </a:solidFill>
          <a:ln w="12700">
            <a:solidFill>
              <a:srgbClr val="252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5257799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55EFC4"/>
                </a:solidFill>
                <a:latin typeface="Arial"/>
              </a:defRPr>
            </a:pPr>
            <a:r>
              <a:t>✓ MLM, CLM 자연스러운 사전학습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AA"/>
                </a:solidFill>
                <a:latin typeface="Arial"/>
              </a:defRPr>
            </a:pPr>
            <a:r>
              <a:t>* Linformer, Flash Attention, Mamba 등으로 O(n²) 문제를 해결하는 연구가 활발히 진행 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3A308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29BFE"/>
                </a:solidFill>
                <a:latin typeface="Arial"/>
              </a:defRPr>
            </a:pPr>
            <a:r>
              <a:t>실습과 코드 예제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Arial"/>
              </a:defRPr>
            </a:pPr>
            <a:r>
              <a:t>Self-Attention PyTorch 구현 &amp; ESM-2 활용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Self-Attention PyTorch 구현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943600" cy="530352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ourier New"/>
              </a:defRPr>
            </a:pPr>
            <a:r>
              <a:t>import torch</a:t>
            </a:r>
            <a:br/>
            <a:r>
              <a:t>import torch.nn as nn</a:t>
            </a:r>
            <a:br/>
            <a:r>
              <a:t>import torch.nn.functional as F</a:t>
            </a:r>
            <a:br/>
            <a:br/>
            <a:r>
              <a:t>class SelfAttention(nn.Module):</a:t>
            </a:r>
            <a:br/>
            <a:r>
              <a:t>    def __init__(self, d_model, n_heads):</a:t>
            </a:r>
            <a:br/>
            <a:r>
              <a:t>        super().__init__()</a:t>
            </a:r>
            <a:br/>
            <a:r>
              <a:t>        self.d_k = d_model // n_heads</a:t>
            </a:r>
            <a:br/>
            <a:r>
              <a:t>        self.n_heads = n_heads</a:t>
            </a:r>
            <a:br/>
            <a:r>
              <a:t>        # Q, K, V 투영 행렬</a:t>
            </a:r>
            <a:br/>
            <a:r>
              <a:t>        self.W_q = nn.Linear(d_model, d_model)</a:t>
            </a:r>
            <a:br/>
            <a:r>
              <a:t>        self.W_k = nn.Linear(d_model, d_model)</a:t>
            </a:r>
            <a:br/>
            <a:r>
              <a:t>        self.W_v = nn.Linear(d_model, d_model)</a:t>
            </a:r>
            <a:br/>
            <a:r>
              <a:t>        self.W_o = nn.Linear(d_model, d_model)</a:t>
            </a:r>
            <a:br/>
            <a:br/>
            <a:r>
              <a:t>    def forward(self, x):</a:t>
            </a:r>
            <a:br/>
            <a:r>
              <a:t>        B, L, D = x.shape</a:t>
            </a:r>
            <a:br/>
            <a:r>
              <a:t>        Q = self.W_q(x).view(B,L,self.n_heads,self.d_k)</a:t>
            </a:r>
            <a:br/>
            <a:r>
              <a:t>        K = self.W_k(x).view(B,L,self.n_heads,self.d_k)</a:t>
            </a:r>
            <a:br/>
            <a:r>
              <a:t>        V = self.W_v(x).view(B,L,self.n_heads,self.d_k)</a:t>
            </a:r>
            <a:br/>
            <a:r>
              <a:t>        Q, K, V = [t.transpose(1,2) for t in (Q,K,V)]</a:t>
            </a:r>
            <a:br/>
            <a:br/>
            <a:r>
              <a:t>        scores = Q @ K.transpose(-2,-1) / self.d_k**0.5</a:t>
            </a:r>
            <a:br/>
            <a:r>
              <a:t>        attn = F.softmax(scores, dim=-1)</a:t>
            </a:r>
            <a:br/>
            <a:r>
              <a:t>        out = attn @ V</a:t>
            </a:r>
            <a:br/>
            <a:r>
              <a:t>        out = out.transpose(1,2).reshape(B,L,D)</a:t>
            </a:r>
            <a:br/>
            <a:r>
              <a:t>        return self.W_o(out)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371600"/>
            <a:ext cx="4754880" cy="109728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630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Arial"/>
              </a:defRPr>
            </a:pPr>
            <a:r>
              <a:t>1. 투영 (Projection)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8288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W_q, W_k, W_v로 Q, K, V 생성</a:t>
            </a:r>
            <a:br/>
            <a:r>
              <a:t>각 행렬은 d_model × d_model 크기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651760"/>
            <a:ext cx="4754880" cy="109728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74320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Arial"/>
              </a:defRPr>
            </a:pPr>
            <a:r>
              <a:t>2. Multi-Head 분리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310896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d_model을 n_heads개로 분할</a:t>
            </a:r>
            <a:br/>
            <a:r>
              <a:t>예: 768 = 12 heads × 64 dim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3931920"/>
            <a:ext cx="4754880" cy="109728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0" y="402336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Arial"/>
              </a:defRPr>
            </a:pPr>
            <a:r>
              <a:t>3. Attention 계산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3891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QK^T / √d_k → softmax → × V</a:t>
            </a:r>
            <a:br/>
            <a:r>
              <a:t>행렬 연산으로 효율적 병렬 처리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5212079"/>
            <a:ext cx="4754880" cy="109728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5303519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29BFE"/>
                </a:solidFill>
                <a:latin typeface="Arial"/>
              </a:defRPr>
            </a:pPr>
            <a:r>
              <a:t>4. 출력 투영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5669279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모든 head의 결과를 concat 후</a:t>
            </a:r>
            <a:br/>
            <a:r>
              <a:t>W_o로 투영하여 최종 출력 생성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ESM-2 실습 코드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AA"/>
                </a:solidFill>
                <a:latin typeface="Arial"/>
              </a:defRPr>
            </a:pPr>
            <a:r>
              <a:t>단백질 서열의 임베딩을 추출하고 활용하기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943600" cy="502920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302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DD"/>
                </a:solidFill>
                <a:latin typeface="Courier New"/>
              </a:defRPr>
            </a:pPr>
            <a:r>
              <a:t># pip install fair-esm</a:t>
            </a:r>
            <a:br/>
            <a:r>
              <a:t>import torch, esm</a:t>
            </a:r>
            <a:br/>
            <a:br/>
            <a:r>
              <a:t># 1. 모델 로드</a:t>
            </a:r>
            <a:br/>
            <a:r>
              <a:t>model, alphabet = esm.pretrained.esm2_t33_650M_UR50D()</a:t>
            </a:r>
            <a:br/>
            <a:r>
              <a:t>batch_converter = alphabet.get_batch_converter()</a:t>
            </a:r>
            <a:br/>
            <a:r>
              <a:t>model.eval()</a:t>
            </a:r>
            <a:br/>
            <a:br/>
            <a:r>
              <a:t># 2. 서열 입력</a:t>
            </a:r>
            <a:br/>
            <a:r>
              <a:t>data = [</a:t>
            </a:r>
            <a:br/>
            <a:r>
              <a:t>  ("protein1", "MKTAYIAKQRQISFVK"),</a:t>
            </a:r>
            <a:br/>
            <a:r>
              <a:t>  ("protein2", "MALWKRLLPLLALLAL"),</a:t>
            </a:r>
            <a:br/>
            <a:r>
              <a:t>]</a:t>
            </a:r>
            <a:br/>
            <a:r>
              <a:t>batch_labels, batch_strs, batch_tokens = \</a:t>
            </a:r>
            <a:br/>
            <a:r>
              <a:t>    batch_converter(data)</a:t>
            </a:r>
            <a:br/>
            <a:br/>
            <a:r>
              <a:t># 3. 임베딩 추출</a:t>
            </a:r>
            <a:br/>
            <a:r>
              <a:t>with torch.no_grad():</a:t>
            </a:r>
            <a:br/>
            <a:r>
              <a:t>    results = model(</a:t>
            </a:r>
            <a:br/>
            <a:r>
              <a:t>        batch_tokens,</a:t>
            </a:r>
            <a:br/>
            <a:r>
              <a:t>        repr_layers=[33],</a:t>
            </a:r>
            <a:br/>
            <a:r>
              <a:t>        return_contacts=True</a:t>
            </a:r>
            <a:br/>
            <a:r>
              <a:t>    )</a:t>
            </a:r>
            <a:br/>
            <a:br/>
            <a:r>
              <a:t># 4. 결과 활용</a:t>
            </a:r>
            <a:br/>
            <a:r>
              <a:t>embeddings = results["representations"][33]</a:t>
            </a:r>
            <a:br/>
            <a:r>
              <a:t>contacts = results["contacts"]</a:t>
            </a:r>
            <a:br/>
            <a:r>
              <a:t># embeddings shape: (2, seq_len, 1280)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645920"/>
            <a:ext cx="4754880" cy="13716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737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🔬 기능 예측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14884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임베딩 → 분류기</a:t>
            </a:r>
            <a:br/>
            <a:r>
              <a:t>classifier = nn.Linear(1280, num_classes)</a:t>
            </a:r>
            <a:br/>
            <a:r>
              <a:t>mean_emb = embeddings.mean(dim=1)</a:t>
            </a:r>
            <a:br/>
            <a:r>
              <a:t>logits = classifier(mean_emb)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200400"/>
            <a:ext cx="4754880" cy="13716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🧬 변이 효과 예측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70332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마스킹된 위치에 각 아미노산의 확률을 계산</a:t>
            </a:r>
            <a:br/>
            <a:r>
              <a:t>→ 야생형 대비 변이의 log-likelihood ratio로</a:t>
            </a:r>
            <a:br/>
            <a:r>
              <a:t>변이 효과 점수화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4754880"/>
            <a:ext cx="4754880" cy="13716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48463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29BFE"/>
                </a:solidFill>
                <a:latin typeface="Arial"/>
              </a:defRPr>
            </a:pPr>
            <a:r>
              <a:t>📊 접촉 맵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5257800"/>
            <a:ext cx="4206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DD"/>
                </a:solidFill>
                <a:latin typeface="Arial"/>
              </a:defRPr>
            </a:pPr>
            <a:r>
              <a:t>Attention weight에서 접촉 맵을 추출하여</a:t>
            </a:r>
            <a:br/>
            <a:r>
              <a:t>3D 구조에 대한 정보 획득</a:t>
            </a:r>
            <a:br/>
            <a:r>
              <a:t>(별도의 MSA 없이!)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최신 동향과 미래 방향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⚡ 효율적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Flash Attention, Linear Attention —</a:t>
            </a:r>
            <a:br/>
            <a:r>
              <a:t>O(n²) 메모리 문제를 해결하여 전체</a:t>
            </a:r>
            <a:br/>
            <a:r>
              <a:t>유전체 수준의 입력 처리 가능</a:t>
            </a:r>
            <a:br/>
            <a:br/>
            <a:r>
              <a:t>Hyena, Mamba — SSM 기반 아키텍처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08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🎨 생성형 생물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서열을 이해하는 것을 넘어 새로운</a:t>
            </a:r>
            <a:br/>
            <a:r>
              <a:t>단백질/DNA를 설계. 신약 개발,</a:t>
            </a:r>
            <a:br/>
            <a:r>
              <a:t>효소 공학에 혁명적 변화.</a:t>
            </a:r>
            <a:br/>
            <a:br/>
            <a:r>
              <a:t>RFdiffusion, ProtGPT2, ESM3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🌐 멀티모달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서열 + 구조 + 기능 + 텍스트를 하나의</a:t>
            </a:r>
            <a:br/>
            <a:r>
              <a:t>모델에서 통합 학습. AlphaFold 3은</a:t>
            </a:r>
            <a:br/>
            <a:r>
              <a:t>단백질뿐 아니라 DNA, RNA, 리간드까지</a:t>
            </a:r>
            <a:br/>
            <a:r>
              <a:t>복합체 구조 예측.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931920"/>
            <a:ext cx="5303520" cy="22860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4069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🧫 단일 세포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scGPT, Geneformer — 단일 세포</a:t>
            </a:r>
            <a:br/>
            <a:r>
              <a:t>RNA-seq 데이터를 Transformer로 분석.</a:t>
            </a:r>
            <a:br/>
            <a:r>
              <a:t>세포 유형 분류, 유전자 네트워크 추론에</a:t>
            </a:r>
            <a:br/>
            <a:r>
              <a:t>활용.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A29BFE"/>
                </a:solidFill>
                <a:latin typeface="Arial"/>
              </a:defRPr>
            </a:pPr>
            <a:r>
              <a:t>핵심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303520" cy="27432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1. Transformer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Self-Attention: 모든 위치 쌍의 관련성 계산</a:t>
            </a:r>
            <a:br/>
            <a:r>
              <a:t>▸ Multi-Head: 다양한 관계 유형을 동시에 포착</a:t>
            </a:r>
            <a:br/>
            <a:r>
              <a:t>▸ 위치 인코딩: 순서 정보를 벡터에 주입</a:t>
            </a:r>
            <a:br/>
            <a:r>
              <a:t>▸ FFN + 잔차 연결: 특징 추출과 학습 안정화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303520" cy="2743200"/>
          </a:xfrm>
          <a:prstGeom prst="roundRect">
            <a:avLst/>
          </a:prstGeom>
          <a:solidFill>
            <a:srgbClr val="151530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554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29BFE"/>
                </a:solidFill>
                <a:latin typeface="Arial"/>
              </a:defRPr>
            </a:pPr>
            <a:r>
              <a:t>2. 생물정보학 응용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1031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단백질 언어 모델: ESM, ProtTrans (MLM 학습)</a:t>
            </a:r>
            <a:br/>
            <a:r>
              <a:t>▸ 구조 예측: AlphaFold (Evoformer)</a:t>
            </a:r>
            <a:br/>
            <a:r>
              <a:t>▸ 유전체: DNABERT, Enformer, Evo</a:t>
            </a:r>
            <a:br/>
            <a:r>
              <a:t>▸ 단일 세포: scGPT, Geneformer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4389120"/>
            <a:ext cx="9144000" cy="2011680"/>
          </a:xfrm>
          <a:prstGeom prst="roundRect">
            <a:avLst/>
          </a:prstGeom>
          <a:solidFill>
            <a:srgbClr val="0A0A12"/>
          </a:solidFill>
          <a:ln w="1270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A29BFE"/>
                </a:solidFill>
                <a:latin typeface="Arial"/>
              </a:defRPr>
            </a:pPr>
            <a:r>
              <a:t>Take-Home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49377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Arial"/>
              </a:defRPr>
            </a:pPr>
            <a:r>
              <a:t>Transformer는 서열을 이해하는 범용 엔진이다.</a:t>
            </a:r>
            <a:br/>
            <a:r>
              <a:t>자연어든, DNA든, 단백질이든 — "Attention Is All You Need."</a:t>
            </a:r>
            <a:br/>
            <a:r>
              <a:t>생물정보학자가 Transformer를 이해하는 것은 선택이 아닌 필수다.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A29BFE"/>
                </a:solidFill>
                <a:latin typeface="Arial"/>
              </a:defRPr>
            </a:pPr>
            <a:r>
              <a:t>감사합니다!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017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AA"/>
                </a:solidFill>
                <a:latin typeface="Arial"/>
              </a:defRPr>
            </a:pPr>
            <a:r>
              <a:t>질문이 있으시면 편하게 물어보세요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29BFE"/>
                </a:solidFill>
                <a:latin typeface="Arial"/>
              </a:defRPr>
            </a:pPr>
            <a:r>
              <a:t>핵심 참고 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▸ Vaswani et al. (2017) — Attention Is All You Need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▸ Rives et al. (2021) — ESM: Biological Structure and Function from Scaling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539495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▸ Jumper et al. (2021) — AlphaFold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760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▸ github.com/facebookresearch/esm  |  github.com/google-deepmind/alphafold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612647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DD"/>
                </a:solidFill>
                <a:latin typeface="Arial"/>
              </a:defRPr>
            </a:pPr>
            <a:r>
              <a:t>▸ Jay Alammar — The Illustrated Transformer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